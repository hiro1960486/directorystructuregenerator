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27d5dbd1d646ae" /><Relationship Type="http://schemas.openxmlformats.org/officeDocument/2006/relationships/extended-properties" Target="/docProps/app.xml" Id="R5fae06ad18344220" /><Relationship Type="http://schemas.openxmlformats.org/officeDocument/2006/relationships/officeDocument" Target="/ppt/presentation.xml" Id="Rf1e84385449a429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c33446e8e1f4a55"/>
  </p:sldMasterIdLst>
  <p:notesMasterIdLst>
    <p:notesMasterId xmlns:r="http://schemas.openxmlformats.org/officeDocument/2006/relationships" r:id="R03899e325d964a6a"/>
  </p:notesMasterIdLst>
  <p:sldIdLst>
    <p:sldId xmlns:r="http://schemas.openxmlformats.org/officeDocument/2006/relationships" id="256" r:id="R6a98a82dcbe54784"/>
    <p:sldId xmlns:r="http://schemas.openxmlformats.org/officeDocument/2006/relationships" id="257" r:id="R1ff406a045164179"/>
    <p:sldId xmlns:r="http://schemas.openxmlformats.org/officeDocument/2006/relationships" id="258" r:id="R53424c6ad4604fef"/>
    <p:sldId xmlns:r="http://schemas.openxmlformats.org/officeDocument/2006/relationships" id="259" r:id="Rce9a9a1afa174815"/>
    <p:sldId xmlns:r="http://schemas.openxmlformats.org/officeDocument/2006/relationships" id="260" r:id="R175aa730cf204ac2"/>
    <p:sldId xmlns:r="http://schemas.openxmlformats.org/officeDocument/2006/relationships" id="261" r:id="R934f41af026d43ea"/>
    <p:sldId xmlns:r="http://schemas.openxmlformats.org/officeDocument/2006/relationships" id="262" r:id="R6b9f93ffe52a4b93"/>
    <p:sldId xmlns:r="http://schemas.openxmlformats.org/officeDocument/2006/relationships" id="263" r:id="Rd558f825855d4511"/>
    <p:sldId xmlns:r="http://schemas.openxmlformats.org/officeDocument/2006/relationships" id="264" r:id="R4e914e58ba6e4534"/>
    <p:sldId xmlns:r="http://schemas.openxmlformats.org/officeDocument/2006/relationships" id="265" r:id="R6741d02a7a714a7e"/>
    <p:sldId xmlns:r="http://schemas.openxmlformats.org/officeDocument/2006/relationships" id="266" r:id="R69501ca9c28c4b8d"/>
    <p:sldId xmlns:r="http://schemas.openxmlformats.org/officeDocument/2006/relationships" id="267" r:id="R31f00c02757f49b1"/>
    <p:sldId xmlns:r="http://schemas.openxmlformats.org/officeDocument/2006/relationships" id="268" r:id="Rff5278cad2a34bab"/>
    <p:sldId xmlns:r="http://schemas.openxmlformats.org/officeDocument/2006/relationships" id="269" r:id="R9c46a91e966e4731"/>
    <p:sldId xmlns:r="http://schemas.openxmlformats.org/officeDocument/2006/relationships" id="270" r:id="Rfe55b2225a5c4fff"/>
    <p:sldId xmlns:r="http://schemas.openxmlformats.org/officeDocument/2006/relationships" id="271" r:id="R7eb6cdae5222457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afc1ab5a9904b25" /><Relationship Type="http://schemas.openxmlformats.org/officeDocument/2006/relationships/slideMaster" Target="/ppt/slideMasters/slideMaster1.xml" Id="Rcc33446e8e1f4a55" /><Relationship Type="http://schemas.openxmlformats.org/officeDocument/2006/relationships/notesMaster" Target="/ppt/notesMasters/notesMaster1.xml" Id="R03899e325d964a6a" /><Relationship Type="http://schemas.openxmlformats.org/officeDocument/2006/relationships/presProps" Target="/ppt/presProps.xml" Id="R54063ee780034723" /><Relationship Type="http://schemas.openxmlformats.org/officeDocument/2006/relationships/tableStyles" Target="/ppt/tableStyles.xml" Id="Rf3655de4b3ef426d" /><Relationship Type="http://schemas.openxmlformats.org/officeDocument/2006/relationships/slide" Target="/ppt/slides/slide1.xml" Id="R6a98a82dcbe54784" /><Relationship Type="http://schemas.openxmlformats.org/officeDocument/2006/relationships/slide" Target="/ppt/slides/slide2.xml" Id="R1ff406a045164179" /><Relationship Type="http://schemas.openxmlformats.org/officeDocument/2006/relationships/slide" Target="/ppt/slides/slide3.xml" Id="R53424c6ad4604fef" /><Relationship Type="http://schemas.openxmlformats.org/officeDocument/2006/relationships/slide" Target="/ppt/slides/slide4.xml" Id="Rce9a9a1afa174815" /><Relationship Type="http://schemas.openxmlformats.org/officeDocument/2006/relationships/slide" Target="/ppt/slides/slide5.xml" Id="R175aa730cf204ac2" /><Relationship Type="http://schemas.openxmlformats.org/officeDocument/2006/relationships/slide" Target="/ppt/slides/slide6.xml" Id="R934f41af026d43ea" /><Relationship Type="http://schemas.openxmlformats.org/officeDocument/2006/relationships/slide" Target="/ppt/slides/slide7.xml" Id="R6b9f93ffe52a4b93" /><Relationship Type="http://schemas.openxmlformats.org/officeDocument/2006/relationships/slide" Target="/ppt/slides/slide8.xml" Id="Rd558f825855d4511" /><Relationship Type="http://schemas.openxmlformats.org/officeDocument/2006/relationships/slide" Target="/ppt/slides/slide9.xml" Id="R4e914e58ba6e4534" /><Relationship Type="http://schemas.openxmlformats.org/officeDocument/2006/relationships/slide" Target="/ppt/slides/slide10.xml" Id="R6741d02a7a714a7e" /><Relationship Type="http://schemas.openxmlformats.org/officeDocument/2006/relationships/slide" Target="/ppt/slides/slide11.xml" Id="R69501ca9c28c4b8d" /><Relationship Type="http://schemas.openxmlformats.org/officeDocument/2006/relationships/slide" Target="/ppt/slides/slide12.xml" Id="R31f00c02757f49b1" /><Relationship Type="http://schemas.openxmlformats.org/officeDocument/2006/relationships/slide" Target="/ppt/slides/slide13.xml" Id="Rff5278cad2a34bab" /><Relationship Type="http://schemas.openxmlformats.org/officeDocument/2006/relationships/slide" Target="/ppt/slides/slide14.xml" Id="R9c46a91e966e4731" /><Relationship Type="http://schemas.openxmlformats.org/officeDocument/2006/relationships/slide" Target="/ppt/slides/slide15.xml" Id="Rfe55b2225a5c4fff" /><Relationship Type="http://schemas.openxmlformats.org/officeDocument/2006/relationships/slide" Target="/ppt/slides/slide16.xml" Id="R7eb6cdae5222457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560c3d4e5cb4ff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ecb543de06644df" /><Relationship Type="http://schemas.openxmlformats.org/officeDocument/2006/relationships/notesMaster" Target="/ppt/notesMasters/notesMaster1.xml" Id="R08ddcf12b5f24f5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3fff938b39b4009" /><Relationship Type="http://schemas.openxmlformats.org/officeDocument/2006/relationships/notesMaster" Target="/ppt/notesMasters/notesMaster1.xml" Id="R4ea824ff57fd4d5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484867504d442f7" /><Relationship Type="http://schemas.openxmlformats.org/officeDocument/2006/relationships/notesMaster" Target="/ppt/notesMasters/notesMaster1.xml" Id="Rf30217b12fd642c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24f57d0880b44a2" /><Relationship Type="http://schemas.openxmlformats.org/officeDocument/2006/relationships/notesMaster" Target="/ppt/notesMasters/notesMaster1.xml" Id="Rf295739ce180451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a046fbaf7ce471f" /><Relationship Type="http://schemas.openxmlformats.org/officeDocument/2006/relationships/notesMaster" Target="/ppt/notesMasters/notesMaster1.xml" Id="R885f8111138a4a3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2853e9632934210" /><Relationship Type="http://schemas.openxmlformats.org/officeDocument/2006/relationships/notesMaster" Target="/ppt/notesMasters/notesMaster1.xml" Id="R4823510d67864ba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47b7bd906134809" /><Relationship Type="http://schemas.openxmlformats.org/officeDocument/2006/relationships/notesMaster" Target="/ppt/notesMasters/notesMaster1.xml" Id="Rdf664883b0064f6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50f9a8829154b49" /><Relationship Type="http://schemas.openxmlformats.org/officeDocument/2006/relationships/notesMaster" Target="/ppt/notesMasters/notesMaster1.xml" Id="R237a38ec3df7452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7e644fb827f4b13" /><Relationship Type="http://schemas.openxmlformats.org/officeDocument/2006/relationships/notesMaster" Target="/ppt/notesMasters/notesMaster1.xml" Id="R84c138a2828a47a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edf9683aeb349c5" /><Relationship Type="http://schemas.openxmlformats.org/officeDocument/2006/relationships/notesMaster" Target="/ppt/notesMasters/notesMaster1.xml" Id="R5333482d3c5845a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6bcf93fa1444cbf" /><Relationship Type="http://schemas.openxmlformats.org/officeDocument/2006/relationships/notesMaster" Target="/ppt/notesMasters/notesMaster1.xml" Id="R3f61462caf4143a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989038985ab49d6" /><Relationship Type="http://schemas.openxmlformats.org/officeDocument/2006/relationships/notesMaster" Target="/ppt/notesMasters/notesMaster1.xml" Id="Rdbb7aa625d2e46f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0b269bbd2b54714" /><Relationship Type="http://schemas.openxmlformats.org/officeDocument/2006/relationships/notesMaster" Target="/ppt/notesMasters/notesMaster1.xml" Id="Rb4c7794f290545f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c51f184daef4711" /><Relationship Type="http://schemas.openxmlformats.org/officeDocument/2006/relationships/notesMaster" Target="/ppt/notesMasters/notesMaster1.xml" Id="R3a1cc98df012486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aa072f407d64a9e" /><Relationship Type="http://schemas.openxmlformats.org/officeDocument/2006/relationships/notesMaster" Target="/ppt/notesMasters/notesMaster1.xml" Id="R91064c2e3da54da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9362c30b46e4cd2" /><Relationship Type="http://schemas.openxmlformats.org/officeDocument/2006/relationships/notesMaster" Target="/ppt/notesMasters/notesMaster1.xml" Id="R738d7e922fe04f4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3459d8461c48d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316f42a78fc46e8" /><Relationship Type="http://schemas.openxmlformats.org/officeDocument/2006/relationships/slideLayout" Target="/ppt/slideLayouts/slideLayout1.xml" Id="R055acf86d66146a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55acf86d66146a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955eace2084f89" /><Relationship Type="http://schemas.openxmlformats.org/officeDocument/2006/relationships/notesSlide" Target="/ppt/notesSlides/notesSlide1.xml" Id="Ra2e83978133c4db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41d3e25a8541d3" /><Relationship Type="http://schemas.openxmlformats.org/officeDocument/2006/relationships/notesSlide" Target="/ppt/notesSlides/notesSlide2.xml" Id="R9da8e303730a4a7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a9b9556004462d" /><Relationship Type="http://schemas.openxmlformats.org/officeDocument/2006/relationships/image" Target="/ppt/media/image.png" Id="R73784acc12de4a85" /><Relationship Type="http://schemas.openxmlformats.org/officeDocument/2006/relationships/image" Target="/ppt/media/image2.png" Id="Rcf62d41ecb4f4183" /><Relationship Type="http://schemas.openxmlformats.org/officeDocument/2006/relationships/notesSlide" Target="/ppt/notesSlides/notesSlide3.xml" Id="R8c32e0f0e12340f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cd7b89c37747e7" /><Relationship Type="http://schemas.openxmlformats.org/officeDocument/2006/relationships/image" Target="/ppt/media/image3.png" Id="R76ab27f5b00e43d8" /><Relationship Type="http://schemas.openxmlformats.org/officeDocument/2006/relationships/notesSlide" Target="/ppt/notesSlides/notesSlide4.xml" Id="R2cd87ca603bd418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c168461ebc4262" /><Relationship Type="http://schemas.openxmlformats.org/officeDocument/2006/relationships/image" Target="/ppt/media/image4.png" Id="Rfd46ae2af0fd47d8" /><Relationship Type="http://schemas.openxmlformats.org/officeDocument/2006/relationships/image" Target="/ppt/media/image5.png" Id="R8d0228687b7c42ab" /><Relationship Type="http://schemas.openxmlformats.org/officeDocument/2006/relationships/notesSlide" Target="/ppt/notesSlides/notesSlide5.xml" Id="R1fa0c5963a25455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e5aacb3131482c" /><Relationship Type="http://schemas.openxmlformats.org/officeDocument/2006/relationships/image" Target="/ppt/media/image6.png" Id="R440c5bf5b01a4306" /><Relationship Type="http://schemas.openxmlformats.org/officeDocument/2006/relationships/image" Target="/ppt/media/image7.png" Id="R9a9abfa601bc49de" /><Relationship Type="http://schemas.openxmlformats.org/officeDocument/2006/relationships/notesSlide" Target="/ppt/notesSlides/notesSlide6.xml" Id="Rc18bc550c61c4fa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da8c0b05e14bfa" /><Relationship Type="http://schemas.openxmlformats.org/officeDocument/2006/relationships/image" Target="/ppt/media/image8.png" Id="Ra5e5abd987af473c" /><Relationship Type="http://schemas.openxmlformats.org/officeDocument/2006/relationships/image" Target="/ppt/media/image9.png" Id="Rb2bb5a533359402b" /><Relationship Type="http://schemas.openxmlformats.org/officeDocument/2006/relationships/notesSlide" Target="/ppt/notesSlides/notesSlide7.xml" Id="R1c604fcf8fa843a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d0c8b682d0476a" /><Relationship Type="http://schemas.openxmlformats.org/officeDocument/2006/relationships/image" Target="/ppt/media/image10.png" Id="R021cf675ee8646fa" /><Relationship Type="http://schemas.openxmlformats.org/officeDocument/2006/relationships/notesSlide" Target="/ppt/notesSlides/notesSlide8.xml" Id="Rfc53c250537e47b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de0aa73d5c4db4" /><Relationship Type="http://schemas.openxmlformats.org/officeDocument/2006/relationships/image" Target="/ppt/media/image11.png" Id="R3602bfcb3118405a" /><Relationship Type="http://schemas.openxmlformats.org/officeDocument/2006/relationships/notesSlide" Target="/ppt/notesSlides/notesSlide9.xml" Id="R32f4fecbea944ed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1e8a4993f44797" /><Relationship Type="http://schemas.openxmlformats.org/officeDocument/2006/relationships/image" Target="/ppt/media/image12.png" Id="Re1959302219144ca" /><Relationship Type="http://schemas.openxmlformats.org/officeDocument/2006/relationships/image" Target="/ppt/media/image13.png" Id="Rbb2e05a84e134526" /><Relationship Type="http://schemas.openxmlformats.org/officeDocument/2006/relationships/notesSlide" Target="/ppt/notesSlides/notesSlide10.xml" Id="Re50ede6e906c49e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f7e2f1232e4824" /><Relationship Type="http://schemas.openxmlformats.org/officeDocument/2006/relationships/image" Target="/ppt/media/image14.png" Id="R089fa8aa473345b7" /><Relationship Type="http://schemas.openxmlformats.org/officeDocument/2006/relationships/notesSlide" Target="/ppt/notesSlides/notesSlide11.xml" Id="R3e3db875b0b943b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28a9597a904833" /><Relationship Type="http://schemas.openxmlformats.org/officeDocument/2006/relationships/image" Target="/ppt/media/image15.png" Id="Rf6d923e5f6da4c1d" /><Relationship Type="http://schemas.openxmlformats.org/officeDocument/2006/relationships/notesSlide" Target="/ppt/notesSlides/notesSlide12.xml" Id="Rfefa8f84e9ae4f4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acd7a67a5b4a95" /><Relationship Type="http://schemas.openxmlformats.org/officeDocument/2006/relationships/image" Target="/ppt/media/image16.png" Id="Rca9c965d712e48c3" /><Relationship Type="http://schemas.openxmlformats.org/officeDocument/2006/relationships/notesSlide" Target="/ppt/notesSlides/notesSlide13.xml" Id="R075e03dfc31a498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f9035d96874423" /><Relationship Type="http://schemas.openxmlformats.org/officeDocument/2006/relationships/notesSlide" Target="/ppt/notesSlides/notesSlide14.xml" Id="R9452f88283f940a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585ad8eb2141ce" /><Relationship Type="http://schemas.openxmlformats.org/officeDocument/2006/relationships/notesSlide" Target="/ppt/notesSlides/notesSlide15.xml" Id="R0a3af1f177be4b1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c9ab2235c74d73" /><Relationship Type="http://schemas.openxmlformats.org/officeDocument/2006/relationships/notesSlide" Target="/ppt/notesSlides/notesSlide16.xml" Id="R0fba97862f48460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8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9C4914-2B9F-4424-BF7C-54B2C704B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9CAC83-B2CB-4DF9-A188-5CD551741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762000"/>
            <a:ext cx="4000500" cy="4762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2463EB"/>
          </a:solidFill>
          <a:ln xmlns:a="http://schemas.openxmlformats.org/drawingml/2006/main" w="9525">
            <a:solidFill>
              <a:srgbClr val="2463EB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D30F23-58E6-41EA-87B4-84DB58204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5334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3150" b="1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操作マニュアル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A081D8-0355-4C62-968A-D9EF0BC54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552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63EB"/>
                </a:solidFill>
                <a:latin typeface="BIZ UDGothic"/>
                <a:ea typeface="BIZ UDGothic"/>
                <a:cs typeface="BIZ UDGothic"/>
              </a:defRPr>
            </a:pPr>
            <a:r>
              <a:rPr sz="1650" b="1">
                <a:solidFill>
                  <a:srgbClr val="2463EB"/>
                </a:solidFill>
                <a:latin typeface="BIZ UDGothic"/>
                <a:ea typeface="BIZ UDGothic"/>
                <a:cs typeface="BIZ UDGothic"/>
              </a:rPr>
              <a:t>見つける・選ぶ・安全に整理する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B380F7-CA34-4FCA-9798-4BE4ABFF9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38450"/>
            <a:ext cx="400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96F948-4844-4F33-8B98-E0D7F9089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47A"/>
                </a:solidFill>
                <a:latin typeface="BIZ UDGothic"/>
                <a:ea typeface="BIZ UDGothic"/>
                <a:cs typeface="BIZ UDGothic"/>
              </a:defRPr>
            </a:pPr>
            <a:r>
              <a:rPr sz="1275" b="0">
                <a:solidFill>
                  <a:srgbClr val="52647A"/>
                </a:solidFill>
                <a:latin typeface="BIZ UDGothic"/>
                <a:ea typeface="BIZ UDGothic"/>
                <a:cs typeface="BIZ UDGothic"/>
              </a:rPr>
              <a:t>対象環境　Windows 10 / 11（64ビット）</a:t>
            </a:r>
          </a:p>
          <a:p xmlns:a="http://schemas.openxmlformats.org/drawingml/2006/main">
            <a:pPr algn="l">
              <a:defRPr sz="1275" b="0">
                <a:solidFill>
                  <a:srgbClr val="52647A"/>
                </a:solidFill>
                <a:latin typeface="BIZ UDGothic"/>
                <a:ea typeface="BIZ UDGothic"/>
                <a:cs typeface="BIZ UDGothic"/>
              </a:defRPr>
            </a:pPr>
            <a:r>
              <a:rPr sz="1275" b="0">
                <a:solidFill>
                  <a:srgbClr val="52647A"/>
                </a:solidFill>
                <a:latin typeface="BIZ UDGothic"/>
                <a:ea typeface="BIZ UDGothic"/>
                <a:cs typeface="BIZ UDGothic"/>
              </a:rPr>
              <a:t>更新日　2026年9月23日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649570-7181-4D6B-84CD-9EF5703A2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72000"/>
            <a:ext cx="4953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AF8F0"/>
          </a:solidFill>
          <a:ln xmlns:a="http://schemas.openxmlformats.org/drawingml/2006/main" w="9525">
            <a:solidFill>
              <a:srgbClr val="C9D8E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070AE0-69C8-48AC-A5B6-FB98699DE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67250"/>
            <a:ext cx="4610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既定では元ファイルを保持します</a:t>
            </a:r>
          </a:p>
          <a:p xmlns:a="http://schemas.openxmlformats.org/drawingml/2006/main">
            <a:pPr algn="l">
              <a:def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整理コピーはコピー側だけを変更します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4A5206-0682-483E-9517-4E298E689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381125"/>
            <a:ext cx="285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2625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Directory</a:t>
            </a:r>
          </a:p>
          <a:p xmlns:a="http://schemas.openxmlformats.org/drawingml/2006/main">
            <a:pPr algn="l">
              <a:defRPr sz="2625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2625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Structure</a:t>
            </a:r>
          </a:p>
          <a:p xmlns:a="http://schemas.openxmlformats.org/drawingml/2006/main">
            <a:pPr algn="l">
              <a:defRPr sz="2625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2625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Generator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504C14-128D-4D97-B56C-3CD9D196A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671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875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Ver.2.8.1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4073D2-6641-4DC5-811D-E4A8534BB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2100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275" b="0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操作マニュアル</a:t>
            </a:r>
          </a:p>
        </p:txBody>
      </p:sp>
    </p:spTree>
    <p:extLst>
      <p:ext uri="{BB962C8B-B14F-4D97-AF65-F5344CB8AC3E}">
        <p14:creationId xmlns:p14="http://schemas.microsoft.com/office/powerpoint/2010/main" val="18632056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2BEE54-CD05-4DE2-9427-B5643464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C66258-B51E-4C28-9670-4DAD39AF2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232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このアプリでできること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DBFAB3-8ED1-4A18-B7FE-EC4D49495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238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463EB"/>
                </a:solidFill>
                <a:latin typeface="BIZ UDGothic"/>
                <a:ea typeface="BIZ UDGothic"/>
                <a:cs typeface="BIZ UDGothic"/>
              </a:defRPr>
            </a:pPr>
            <a:r>
              <a:rPr sz="975" b="1">
                <a:solidFill>
                  <a:srgbClr val="2463EB"/>
                </a:solidFill>
                <a:latin typeface="BIZ UDGothic"/>
                <a:ea typeface="BIZ UDGothic"/>
                <a:cs typeface="BIZ UDGothic"/>
              </a:rPr>
              <a:t>概要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1C5FE9-8A9A-4BCB-A4B8-90FB61AD3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58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3F7C32-CED4-442C-A677-F0F628C17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defRPr>
            </a:pPr>
            <a:r>
              <a: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rPr>
              <a:t>Directory Structure Generator Ver.2.8.1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464144-DE3F-4149-A5A8-D372C06BA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defRPr>
            </a:pPr>
            <a:r>
              <a: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F42205-56C7-4678-8236-CBD3BC886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81125"/>
            <a:ext cx="2571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7FAFF"/>
          </a:solidFill>
          <a:ln xmlns:a="http://schemas.openxmlformats.org/drawingml/2006/main" w="9525">
            <a:solidFill>
              <a:srgbClr val="C9D8E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A950EC-B85B-4E58-8142-EC60D698B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5716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9525">
            <a:solidFill>
              <a:srgbClr val="2463E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B334F0-34CA-472D-B257-F36C11E45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5716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275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240EC6-BEF1-42A1-8527-98ABB5E65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524000"/>
            <a:ext cx="1666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57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構成を確認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3232D5-9F68-44B1-82E9-946F4EBC7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143125"/>
            <a:ext cx="2152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defRPr>
            </a:pPr>
            <a:r>
              <a:rPr sz="120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rPr>
              <a:t>TXT・HTML・CSV・JSONで</a:t>
            </a:r>
          </a:p>
          <a:p xmlns:a="http://schemas.openxmlformats.org/drawingml/2006/main">
            <a:pPr algn="l">
              <a:defRPr sz="120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defRPr>
            </a:pPr>
            <a:r>
              <a:rPr sz="120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rPr>
              <a:t>フォルダー構成を出力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D77978-E495-44C2-B2E5-13E212D89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381125"/>
            <a:ext cx="2571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7FAFF"/>
          </a:solidFill>
          <a:ln xmlns:a="http://schemas.openxmlformats.org/drawingml/2006/main" w="9525">
            <a:solidFill>
              <a:srgbClr val="C9D8E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F650F4-C840-4A09-81AA-6DBA6ABAD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15716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9525">
            <a:solidFill>
              <a:srgbClr val="2463E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AB281B-0090-465B-BDBE-7787FE671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15716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275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67819A-43FE-49BB-8957-D49E6493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524000"/>
            <a:ext cx="1666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57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詳細を調査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531286-4230-4B06-9BBC-5A750416C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143125"/>
            <a:ext cx="2152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defRPr>
            </a:pPr>
            <a:r>
              <a:rPr sz="120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rPr>
              <a:t>サイズ・日時・行数・画像や</a:t>
            </a:r>
          </a:p>
          <a:p xmlns:a="http://schemas.openxmlformats.org/drawingml/2006/main">
            <a:pPr algn="l">
              <a:defRPr sz="120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defRPr>
            </a:pPr>
            <a:r>
              <a:rPr sz="120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rPr>
              <a:t>動画の情報を一覧化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C81355-43D5-4F81-8DD8-FDD7A0AC0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381125"/>
            <a:ext cx="2571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7FAFF"/>
          </a:solidFill>
          <a:ln xmlns:a="http://schemas.openxmlformats.org/drawingml/2006/main" w="9525">
            <a:solidFill>
              <a:srgbClr val="C9D8E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4AD663-7794-4851-833E-6C819DB52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5716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9525">
            <a:solidFill>
              <a:srgbClr val="2463E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2754C7-7053-40BB-BBDD-5DE34AD0B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5716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275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F02822-E199-4930-93DF-1C6C2EF5E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524000"/>
            <a:ext cx="1666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57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見つける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3328AD-8DCC-48F6-9723-EEA753AE8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143125"/>
            <a:ext cx="2152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defRPr>
            </a:pPr>
            <a:r>
              <a:rPr sz="120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rPr>
              <a:t>検索・分類・ソート・</a:t>
            </a:r>
          </a:p>
          <a:p xmlns:a="http://schemas.openxmlformats.org/drawingml/2006/main">
            <a:pPr algn="l">
              <a:defRPr sz="120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defRPr>
            </a:pPr>
            <a:r>
              <a:rPr sz="120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rPr>
              <a:t>右クリック操作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45A225-1C85-47F6-92E9-09E00FB62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381125"/>
            <a:ext cx="2571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7FAFF"/>
          </a:solidFill>
          <a:ln xmlns:a="http://schemas.openxmlformats.org/drawingml/2006/main" w="9525">
            <a:solidFill>
              <a:srgbClr val="C9D8EE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7292D7-E75C-47CD-A2DC-CD5F59B08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15716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9525">
            <a:solidFill>
              <a:srgbClr val="2463EB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9D779C-CE4C-4A63-B095-2EF5522E5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15716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275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E7AE71-F359-4ADC-9B40-A57F5CACC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524000"/>
            <a:ext cx="1666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57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整理コピー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134883-B444-47AA-AFB7-A5B3EFA64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143125"/>
            <a:ext cx="2152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defRPr>
            </a:pPr>
            <a:r>
              <a:rPr sz="120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rPr>
              <a:t>元データを保持したまま</a:t>
            </a:r>
          </a:p>
          <a:p xmlns:a="http://schemas.openxmlformats.org/drawingml/2006/main">
            <a:pPr algn="l">
              <a:defRPr sz="120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defRPr>
            </a:pPr>
            <a:r>
              <a:rPr sz="120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rPr>
              <a:t>コピー側を整理・改名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81BFF5-6906-4A71-9E7E-C93557589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14750"/>
            <a:ext cx="11144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AF8F0"/>
          </a:solidFill>
          <a:ln xmlns:a="http://schemas.openxmlformats.org/drawingml/2006/main" w="9525">
            <a:solidFill>
              <a:srgbClr val="C9D8EE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3B064B-509D-4D89-B90F-05A138E09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810000"/>
            <a:ext cx="108013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安全の基本</a:t>
            </a:r>
          </a:p>
          <a:p xmlns:a="http://schemas.openxmlformats.org/drawingml/2006/main">
            <a:pPr algn="l">
              <a:def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・通常の走査と詳細解析は読み取り専用です。</a:t>
            </a:r>
          </a:p>
          <a:p xmlns:a="http://schemas.openxmlformats.org/drawingml/2006/main">
            <a:pPr algn="l">
              <a:def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・整理コピーは、事前確認した内容だけを指定フォルダーへコピーします。</a:t>
            </a:r>
          </a:p>
          <a:p xmlns:a="http://schemas.openxmlformats.org/drawingml/2006/main">
            <a:pPr algn="l">
              <a:def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・元ファイル削除を選んだ場合は、実行前に確認画面を表示します。</a:t>
            </a:r>
          </a:p>
        </p:txBody>
      </p:sp>
    </p:spTree>
    <p:extLst>
      <p:ext uri="{BB962C8B-B14F-4D97-AF65-F5344CB8AC3E}">
        <p14:creationId xmlns:p14="http://schemas.microsoft.com/office/powerpoint/2010/main" val="12989163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E04DB1-E3BD-4644-8A82-4B0EE3C3B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19CE1C-5493-4182-B908-1BB7A60B2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232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ダウンロードと初回起動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FA0C3B-DBF5-4A43-BF49-D42B87603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238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463EB"/>
                </a:solidFill>
                <a:latin typeface="BIZ UDGothic"/>
                <a:ea typeface="BIZ UDGothic"/>
                <a:cs typeface="BIZ UDGothic"/>
              </a:defRPr>
            </a:pPr>
            <a:r>
              <a:rPr sz="975" b="1">
                <a:solidFill>
                  <a:srgbClr val="2463EB"/>
                </a:solidFill>
                <a:latin typeface="BIZ UDGothic"/>
                <a:ea typeface="BIZ UDGothic"/>
                <a:cs typeface="BIZ UDGothic"/>
              </a:rPr>
              <a:t>導入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0777AF-1B13-47C2-A672-FC0D367C3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58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480010-E86C-4356-A349-25C6E9067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defRPr>
            </a:pPr>
            <a:r>
              <a: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rPr>
              <a:t>Directory Structure Generator Ver.2.8.1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4EAAE9-43A7-4382-A423-4D8BAE4B1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defRPr>
            </a:pPr>
            <a:r>
              <a: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rPr>
              <a:t>3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784acc12de4a85"/>
          <a:stretch xmlns:a="http://schemas.openxmlformats.org/drawingml/2006/main"/>
        </p:blipFill>
        <p:spPr>
          <a:xfrm xmlns:a="http://schemas.openxmlformats.org/drawingml/2006/main">
            <a:off x="704513" y="1381125"/>
            <a:ext cx="3448723" cy="3190875"/>
          </a:xfrm>
          <a:prstGeom xmlns:a="http://schemas.openxmlformats.org/drawingml/2006/main" prst="roundRect">
            <a:avLst>
              <a:gd name="adj" fmla="val 3582"/>
            </a:avLst>
          </a:prstGeom>
        </p:spPr>
      </p:pic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62d41ecb4f4183"/>
          <a:stretch xmlns:a="http://schemas.openxmlformats.org/drawingml/2006/main"/>
        </p:blipFill>
        <p:spPr>
          <a:xfrm xmlns:a="http://schemas.openxmlformats.org/drawingml/2006/main">
            <a:off x="4469087" y="1381125"/>
            <a:ext cx="3444325" cy="3190875"/>
          </a:xfrm>
          <a:prstGeom xmlns:a="http://schemas.openxmlformats.org/drawingml/2006/main" prst="roundRect">
            <a:avLst>
              <a:gd name="adj" fmla="val 3582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171977-5BDB-45AB-8998-0C53DBF10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4763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9525">
            <a:solidFill>
              <a:srgbClr val="2463E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4591D8-117D-4877-AA26-45F071969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4763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59E6B3-0CB5-411D-9B17-81FCD8E8A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1438275"/>
            <a:ext cx="2590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98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42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GitHubのReleasesから最新版ZIPをダウンロード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BFB87F-E12C-4148-B4C4-E1D505885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765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9525">
            <a:solidFill>
              <a:srgbClr val="2463E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801864-6C6C-4625-B4F2-5695849A1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765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2B27F0-F36A-451D-8A82-59190F4B9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438400"/>
            <a:ext cx="2590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982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ZIPを展開し、START_APP.batまたはEXEを起動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7A0E26-E19B-48B0-B1DF-AC3992EB3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4766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9525">
            <a:solidFill>
              <a:srgbClr val="2463E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C2DA12-F8D2-4BC1-8BC5-E3924381E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4766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BAC676-6EE4-41CA-850B-BB7A7A429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438525"/>
            <a:ext cx="2590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982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SmartScreenが出たら発行元と配布元を確認して実行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22C8D8-C09C-4294-9F07-7D97F7190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10715625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4DE"/>
          </a:solidFill>
          <a:ln xmlns:a="http://schemas.openxmlformats.org/drawingml/2006/main" w="9525">
            <a:solidFill>
              <a:srgbClr val="C9D8E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96AFFB-8DC7-4895-BA5C-B67942E7F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0"/>
            <a:ext cx="103727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Windowsの警告表示は、未署名の個人配布アプリで表示される場合があります。GitHubの公式リリースから取得したファイルか確認してください。</a:t>
            </a:r>
          </a:p>
        </p:txBody>
      </p:sp>
    </p:spTree>
    <p:extLst>
      <p:ext uri="{BB962C8B-B14F-4D97-AF65-F5344CB8AC3E}">
        <p14:creationId xmlns:p14="http://schemas.microsoft.com/office/powerpoint/2010/main" val="13312086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398A0D-C078-4BA5-BC75-4F89858E6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BCF078-97A8-43D0-9644-7DD441270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232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メイン画面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FA89D3-9562-46FA-954E-BD62E3775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238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463EB"/>
                </a:solidFill>
                <a:latin typeface="BIZ UDGothic"/>
                <a:ea typeface="BIZ UDGothic"/>
                <a:cs typeface="BIZ UDGothic"/>
              </a:defRPr>
            </a:pPr>
            <a:r>
              <a:rPr sz="975" b="1">
                <a:solidFill>
                  <a:srgbClr val="2463EB"/>
                </a:solidFill>
                <a:latin typeface="BIZ UDGothic"/>
                <a:ea typeface="BIZ UDGothic"/>
                <a:cs typeface="BIZ UDGothic"/>
              </a:rPr>
              <a:t>基本操作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E6A26F-3A72-4DAA-9BD2-8517DCCC1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58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491ECD-E9E9-4F20-8762-569C14291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defRPr>
            </a:pPr>
            <a:r>
              <a: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rPr>
              <a:t>Directory Structure Generator Ver.2.8.1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A8C3A5-C1E8-4724-AB16-EBC853649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defRPr>
            </a:pPr>
            <a:r>
              <a: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rPr>
              <a:t>4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ab27f5b00e43d8"/>
          <a:stretch xmlns:a="http://schemas.openxmlformats.org/drawingml/2006/main"/>
        </p:blipFill>
        <p:spPr>
          <a:xfrm xmlns:a="http://schemas.openxmlformats.org/drawingml/2006/main">
            <a:off x="523875" y="1350375"/>
            <a:ext cx="8096250" cy="4347750"/>
          </a:xfrm>
          <a:prstGeom xmlns:a="http://schemas.openxmlformats.org/drawingml/2006/main" prst="roundRect">
            <a:avLst>
              <a:gd name="adj" fmla="val 250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BA784E-E01F-465A-82F7-94B755C29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428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9525">
            <a:solidFill>
              <a:srgbClr val="2463E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0D8C67-790C-4A7D-AF82-B20449003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4287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54BF13-1CEB-4551-A2D3-FEA750B1C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390650"/>
            <a:ext cx="1924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98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42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対象フォルダーと出力先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E16B1E-4E3D-4CAF-A21E-7AEF31DF3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05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9525">
            <a:solidFill>
              <a:srgbClr val="2463E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2236A4-8848-4C2E-9C26-22FC5BAF6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050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5A1E94-9869-4859-98E1-352FF3098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266950"/>
            <a:ext cx="1924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982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フィルターとプリセット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4E58E3-A516-4DF4-877E-E51AE31AB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81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9525">
            <a:solidFill>
              <a:srgbClr val="2463E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7150D2-5BF0-4586-A2BC-7F4068BCA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813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E968B0-5FA2-4154-9E22-3A77217F7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143250"/>
            <a:ext cx="1924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055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出力形式と実行ボタン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3071EF-FF94-4ECD-AB9D-07A6F6258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576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9525">
            <a:solidFill>
              <a:srgbClr val="2463E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8EB311-C161-4618-AEE4-081F8012C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576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5342CC-8C71-49BA-A53B-DDB23E4D0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019550"/>
            <a:ext cx="1924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プレビューと進捗</a:t>
            </a:r>
          </a:p>
        </p:txBody>
      </p:sp>
    </p:spTree>
    <p:extLst>
      <p:ext uri="{BB962C8B-B14F-4D97-AF65-F5344CB8AC3E}">
        <p14:creationId xmlns:p14="http://schemas.microsoft.com/office/powerpoint/2010/main" val="21311462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8A41CD-BF8B-42C5-BBF4-7573566EF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61A45D-4B20-4D49-B250-A385AC316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232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フォルダー選択とフィルター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5159DB-E6E7-4D67-8EE0-78828B618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238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463EB"/>
                </a:solidFill>
                <a:latin typeface="BIZ UDGothic"/>
                <a:ea typeface="BIZ UDGothic"/>
                <a:cs typeface="BIZ UDGothic"/>
              </a:defRPr>
            </a:pPr>
            <a:r>
              <a:rPr sz="975" b="1">
                <a:solidFill>
                  <a:srgbClr val="2463EB"/>
                </a:solidFill>
                <a:latin typeface="BIZ UDGothic"/>
                <a:ea typeface="BIZ UDGothic"/>
                <a:cs typeface="BIZ UDGothic"/>
              </a:rPr>
              <a:t>基本操作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71EA9F-1FE2-433D-AC18-7207CF764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58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1A0FFF-E93E-4712-9EAE-31A164ED9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defRPr>
            </a:pPr>
            <a:r>
              <a: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rPr>
              <a:t>Directory Structure Generator Ver.2.8.1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09F798-566D-42ED-9F06-3A0964615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defRPr>
            </a:pPr>
            <a:r>
              <a: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rPr>
              <a:t>5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46ae2af0fd47d8"/>
          <a:stretch xmlns:a="http://schemas.openxmlformats.org/drawingml/2006/main"/>
        </p:blipFill>
        <p:spPr>
          <a:xfrm xmlns:a="http://schemas.openxmlformats.org/drawingml/2006/main">
            <a:off x="523875" y="1898516"/>
            <a:ext cx="6191250" cy="489218"/>
          </a:xfrm>
          <a:prstGeom xmlns:a="http://schemas.openxmlformats.org/drawingml/2006/main" prst="roundRect">
            <a:avLst>
              <a:gd name="adj" fmla="val 7500"/>
            </a:avLst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0228687b7c42ab"/>
          <a:stretch xmlns:a="http://schemas.openxmlformats.org/drawingml/2006/main"/>
        </p:blipFill>
        <p:spPr>
          <a:xfrm xmlns:a="http://schemas.openxmlformats.org/drawingml/2006/main">
            <a:off x="7000875" y="1557800"/>
            <a:ext cx="4476750" cy="2885149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4C2A0B-A760-4435-9A46-B0F77332F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0"/>
            <a:ext cx="61912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C9D8E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D344C2-A846-4AFF-9BF7-2726238D7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333750"/>
            <a:ext cx="58483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対象フォルダーと出力先は、参照ボタンで選ぶほか、エクスプローラーから入力欄へドラッグ＆ドロップできます。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A030DB-1EF8-4C06-B62F-F212D7777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476750"/>
            <a:ext cx="6191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AF8F0"/>
          </a:solidFill>
          <a:ln xmlns:a="http://schemas.openxmlformats.org/drawingml/2006/main" w="9525">
            <a:solidFill>
              <a:srgbClr val="C9D8E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6847B7-7783-448E-8EAB-BFEC0A44A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572000"/>
            <a:ext cx="5848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Ver.2.8.1ではフィルター欄を広げ、画面が小さい場合も縦スクロールで全項目を確認できます。</a:t>
            </a:r>
          </a:p>
        </p:txBody>
      </p:sp>
    </p:spTree>
    <p:extLst>
      <p:ext uri="{BB962C8B-B14F-4D97-AF65-F5344CB8AC3E}">
        <p14:creationId xmlns:p14="http://schemas.microsoft.com/office/powerpoint/2010/main" val="3635835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D4AC97-D77F-4E8F-A5F3-FFA7CB055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E73140-0A9E-4B29-91D5-D41ECD281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232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プレビュー走査と構成ファイル生成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451581-F5D9-4B5B-BA69-05DFF6070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238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463EB"/>
                </a:solidFill>
                <a:latin typeface="BIZ UDGothic"/>
                <a:ea typeface="BIZ UDGothic"/>
                <a:cs typeface="BIZ UDGothic"/>
              </a:defRPr>
            </a:pPr>
            <a:r>
              <a:rPr sz="975" b="1">
                <a:solidFill>
                  <a:srgbClr val="2463EB"/>
                </a:solidFill>
                <a:latin typeface="BIZ UDGothic"/>
                <a:ea typeface="BIZ UDGothic"/>
                <a:cs typeface="BIZ UDGothic"/>
              </a:rPr>
              <a:t>基本操作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EF4D5C-2D88-419C-BE73-D4A3CF9C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58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B007D7-85C4-415F-A518-9958AC4B4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defRPr>
            </a:pPr>
            <a:r>
              <a: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rPr>
              <a:t>Directory Structure Generator Ver.2.8.1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693062-D2CF-4DCB-B188-59E0550B1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defRPr>
            </a:pPr>
            <a:r>
              <a: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rPr>
              <a:t>6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0c5bf5b01a4306"/>
          <a:stretch xmlns:a="http://schemas.openxmlformats.org/drawingml/2006/main"/>
        </p:blipFill>
        <p:spPr>
          <a:xfrm xmlns:a="http://schemas.openxmlformats.org/drawingml/2006/main">
            <a:off x="1102726" y="1333500"/>
            <a:ext cx="4176298" cy="1285875"/>
          </a:xfrm>
          <a:prstGeom xmlns:a="http://schemas.openxmlformats.org/drawingml/2006/main" prst="roundRect">
            <a:avLst>
              <a:gd name="adj" fmla="val 8889"/>
            </a:avLst>
          </a:prstGeom>
        </p:spPr>
      </p:pic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9abfa601bc49de"/>
          <a:stretch xmlns:a="http://schemas.openxmlformats.org/drawingml/2006/main"/>
        </p:blipFill>
        <p:spPr>
          <a:xfrm xmlns:a="http://schemas.openxmlformats.org/drawingml/2006/main">
            <a:off x="1432999" y="3000375"/>
            <a:ext cx="5420751" cy="2476500"/>
          </a:xfrm>
          <a:prstGeom xmlns:a="http://schemas.openxmlformats.org/drawingml/2006/main" prst="roundRect">
            <a:avLst>
              <a:gd name="adj" fmla="val 4615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6BF036-6CD9-45CB-BC6D-0B24FDF97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3811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9525">
            <a:solidFill>
              <a:srgbClr val="2463E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4A063F-13D8-4411-8D7B-684B94261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3811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967754-6A0A-4780-824C-9CE53237B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1343025"/>
            <a:ext cx="2590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42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出力形式を選択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57C263-F86C-488A-BFE5-41BA2C71E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2860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9525">
            <a:solidFill>
              <a:srgbClr val="2463E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845679-CFFF-4A4D-B987-829826064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2860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8120FE-A9D1-4E6D-A747-1F7F95D7B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247900"/>
            <a:ext cx="2590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プレビュー走査で内容を確認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ECD700-88A5-43B6-82EE-A08BD2023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1908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9525">
            <a:solidFill>
              <a:srgbClr val="2463E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48E698-A55A-4791-83C7-4A8028B96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1908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E87C92-0879-462A-BDA2-9EE364AC8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152775"/>
            <a:ext cx="2590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構成ファイルを生成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00544E-2A69-4966-A1E4-D0AF7DA3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95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9525">
            <a:solidFill>
              <a:srgbClr val="2463E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22FD48-CF67-4EF3-BA2D-0EB814EC3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957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989743-2C40-4302-868C-BD50A0FA0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057650"/>
            <a:ext cx="2590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982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プレビュー内検索とコピーも利用可能</a:t>
            </a:r>
          </a:p>
        </p:txBody>
      </p:sp>
    </p:spTree>
    <p:extLst>
      <p:ext uri="{BB962C8B-B14F-4D97-AF65-F5344CB8AC3E}">
        <p14:creationId xmlns:p14="http://schemas.microsoft.com/office/powerpoint/2010/main" val="17933102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6E97A6-3FBE-4612-82CC-CEF23E03E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15AB1-382B-4220-973F-F1363502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232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設定プリセットの使い分け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62C501-B64D-422E-9EE4-7B7477CD3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238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463EB"/>
                </a:solidFill>
                <a:latin typeface="BIZ UDGothic"/>
                <a:ea typeface="BIZ UDGothic"/>
                <a:cs typeface="BIZ UDGothic"/>
              </a:defRPr>
            </a:pPr>
            <a:r>
              <a:rPr sz="975" b="1">
                <a:solidFill>
                  <a:srgbClr val="2463EB"/>
                </a:solidFill>
                <a:latin typeface="BIZ UDGothic"/>
                <a:ea typeface="BIZ UDGothic"/>
                <a:cs typeface="BIZ UDGothic"/>
              </a:rPr>
              <a:t>プリセット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2F6D38-83A6-48E1-AD99-8FC6A1AD5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58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E13C07-8F3B-4209-8538-695FFB99B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defRPr>
            </a:pPr>
            <a:r>
              <a: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rPr>
              <a:t>Directory Structure Generator Ver.2.8.1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FE1BA5-88EA-4900-808C-8810A1892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defRPr>
            </a:pPr>
            <a:r>
              <a: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rPr>
              <a:t>7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e5abd987af473c"/>
          <a:stretch xmlns:a="http://schemas.openxmlformats.org/drawingml/2006/main"/>
        </p:blipFill>
        <p:spPr>
          <a:xfrm xmlns:a="http://schemas.openxmlformats.org/drawingml/2006/main">
            <a:off x="619125" y="1417443"/>
            <a:ext cx="5143500" cy="1165613"/>
          </a:xfrm>
          <a:prstGeom xmlns:a="http://schemas.openxmlformats.org/drawingml/2006/main" prst="roundRect">
            <a:avLst>
              <a:gd name="adj" fmla="val 9231"/>
            </a:avLst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bb5a533359402b"/>
          <a:stretch xmlns:a="http://schemas.openxmlformats.org/drawingml/2006/main"/>
        </p:blipFill>
        <p:spPr>
          <a:xfrm xmlns:a="http://schemas.openxmlformats.org/drawingml/2006/main">
            <a:off x="6048375" y="1950877"/>
            <a:ext cx="5429250" cy="1146496"/>
          </a:xfrm>
          <a:prstGeom xmlns:a="http://schemas.openxmlformats.org/drawingml/2006/main" prst="roundRect">
            <a:avLst>
              <a:gd name="adj" fmla="val 4615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699F3B-8A30-4167-8680-7A45AD015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43250"/>
            <a:ext cx="3238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C9D8E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EDE104-AC1C-4FAC-8DAB-5E4AAF6B8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238500"/>
            <a:ext cx="2895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21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適用</a:t>
            </a:r>
          </a:p>
          <a:p xmlns:a="http://schemas.openxmlformats.org/drawingml/2006/main">
            <a:pPr algn="l">
              <a:def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選択したプリセットを画面へ反映します。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A90F73-1250-4244-87C7-F1D5C38FA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143250"/>
            <a:ext cx="3429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4DE"/>
          </a:solidFill>
          <a:ln xmlns:a="http://schemas.openxmlformats.org/drawingml/2006/main" w="9525">
            <a:solidFill>
              <a:srgbClr val="C9D8E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3ED9EC-7060-4CA2-8DF6-1E174F1E9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238500"/>
            <a:ext cx="3086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21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現在の設定で更新</a:t>
            </a:r>
          </a:p>
          <a:p xmlns:a="http://schemas.openxmlformats.org/drawingml/2006/main">
            <a:pPr algn="l">
              <a:def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ユーザープリセットを確認後に上書きします。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403ED7-C7EF-4D53-8D61-F97C33ECE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143250"/>
            <a:ext cx="3619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AF8F0"/>
          </a:solidFill>
          <a:ln xmlns:a="http://schemas.openxmlformats.org/drawingml/2006/main" w="9525">
            <a:solidFill>
              <a:srgbClr val="C9D8E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813FDA-AA40-4648-B352-C7689CE31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238500"/>
            <a:ext cx="3276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21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管理</a:t>
            </a:r>
          </a:p>
          <a:p xmlns:a="http://schemas.openxmlformats.org/drawingml/2006/main">
            <a:pPr algn="l">
              <a:def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基本・クイック表示・順番・メモ・CSVを管理します。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E26F41-0536-453E-9A7B-78C93D5CC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243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72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基本プリセットは1件、クイック表示は基本を含めて最大5件です。</a:t>
            </a:r>
          </a:p>
        </p:txBody>
      </p:sp>
    </p:spTree>
    <p:extLst>
      <p:ext uri="{BB962C8B-B14F-4D97-AF65-F5344CB8AC3E}">
        <p14:creationId xmlns:p14="http://schemas.microsoft.com/office/powerpoint/2010/main" val="8478770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20B99E-E32F-4E51-B007-0A0396E30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1925DF-9463-4CF8-AA23-5B5828CC6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232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プリセット管理とCSV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06D37B-A258-45A4-B652-7DF284407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238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463EB"/>
                </a:solidFill>
                <a:latin typeface="BIZ UDGothic"/>
                <a:ea typeface="BIZ UDGothic"/>
                <a:cs typeface="BIZ UDGothic"/>
              </a:defRPr>
            </a:pPr>
            <a:r>
              <a:rPr sz="975" b="1">
                <a:solidFill>
                  <a:srgbClr val="2463EB"/>
                </a:solidFill>
                <a:latin typeface="BIZ UDGothic"/>
                <a:ea typeface="BIZ UDGothic"/>
                <a:cs typeface="BIZ UDGothic"/>
              </a:rPr>
              <a:t>プリセット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C8D5BF-6911-4868-8AFD-D61DFFCCF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58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18D753-52FA-4BFE-A8C3-E8B4BA1DC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defRPr>
            </a:pPr>
            <a:r>
              <a: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rPr>
              <a:t>Directory Structure Generator Ver.2.8.1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E89B81-04D7-4D27-8C5D-B67E07568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defRPr>
            </a:pPr>
            <a:r>
              <a: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rPr>
              <a:t>8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1cf675ee8646fa"/>
          <a:stretch xmlns:a="http://schemas.openxmlformats.org/drawingml/2006/main"/>
        </p:blipFill>
        <p:spPr>
          <a:xfrm xmlns:a="http://schemas.openxmlformats.org/drawingml/2006/main">
            <a:off x="571500" y="1267553"/>
            <a:ext cx="6858000" cy="4608644"/>
          </a:xfrm>
          <a:prstGeom xmlns:a="http://schemas.openxmlformats.org/drawingml/2006/main" prst="roundRect">
            <a:avLst>
              <a:gd name="adj" fmla="val 240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E675D7-D2FB-46C4-BB14-B1E8C437E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3811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9525">
            <a:solidFill>
              <a:srgbClr val="2463E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6591F8-88B0-45FD-A961-703C50B17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3811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3CBAA7-C1AF-4756-8BFC-8E1E03318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343025"/>
            <a:ext cx="2876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42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基本にするプリセットを1件選択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73A2BE-4474-45BA-8D55-F3A1D3FC9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257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9525">
            <a:solidFill>
              <a:srgbClr val="2463E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E8B5D8-22C4-42EF-8FE1-4436DA886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257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ED1107-8186-4233-80C3-A64477F06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219325"/>
            <a:ext cx="2876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クイック表示と順番を設定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904111-A982-4412-A34C-BD4EE8190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1337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9525">
            <a:solidFill>
              <a:srgbClr val="2463E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21B3F2-EB34-43E0-BBA0-D2410E64F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1337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2FA03B-F467-49A2-A3AB-DD4B328E4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095625"/>
            <a:ext cx="2876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用途をメモ欄へ記録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739859-011D-4F69-AB91-CA481E8BB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100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9525">
            <a:solidFill>
              <a:srgbClr val="2463E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6968D5-1F93-43C8-A218-1AEDF137C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100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7609A9-0997-445D-A859-D7689CD87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971925"/>
            <a:ext cx="2876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CSVへ書き出し・読み込み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8540A5-437A-43A7-BF06-7879CA33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000625"/>
            <a:ext cx="3429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8F0"/>
          </a:solidFill>
          <a:ln xmlns:a="http://schemas.openxmlformats.org/drawingml/2006/main" w="9525">
            <a:solidFill>
              <a:srgbClr val="C9D8E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8F7937-A2E5-4E09-844D-84BF607A3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5095875"/>
            <a:ext cx="3086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1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除外フォルダー、除外拡張子、対象拡張子、最大階層などもプリセットに保存されます。重複した除外値は整理して保持します。</a:t>
            </a:r>
          </a:p>
        </p:txBody>
      </p:sp>
    </p:spTree>
    <p:extLst>
      <p:ext uri="{BB962C8B-B14F-4D97-AF65-F5344CB8AC3E}">
        <p14:creationId xmlns:p14="http://schemas.microsoft.com/office/powerpoint/2010/main" val="13163925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98A760-550D-42FC-9A32-575A5C6E7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9985AE-D93F-48B2-AE6E-94C86A80E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232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ファイル詳細の解析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AD2135-9F72-40A0-A679-6285BD5D0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238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463EB"/>
                </a:solidFill>
                <a:latin typeface="BIZ UDGothic"/>
                <a:ea typeface="BIZ UDGothic"/>
                <a:cs typeface="BIZ UDGothic"/>
              </a:defRPr>
            </a:pPr>
            <a:r>
              <a:rPr sz="975" b="1">
                <a:solidFill>
                  <a:srgbClr val="2463EB"/>
                </a:solidFill>
                <a:latin typeface="BIZ UDGothic"/>
                <a:ea typeface="BIZ UDGothic"/>
                <a:cs typeface="BIZ UDGothic"/>
              </a:rPr>
              <a:t>ファイル詳細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9BE590-E995-4D61-9EA3-9141ECF10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58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E34C5C-A16C-4E7B-9620-713D0828B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defRPr>
            </a:pPr>
            <a:r>
              <a: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rPr>
              <a:t>Directory Structure Generator Ver.2.8.1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1A4487-2ECC-443E-B347-475D64AA8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defRPr>
            </a:pPr>
            <a:r>
              <a: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rPr>
              <a:t>9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02bfcb3118405a"/>
          <a:stretch xmlns:a="http://schemas.openxmlformats.org/drawingml/2006/main"/>
        </p:blipFill>
        <p:spPr>
          <a:xfrm xmlns:a="http://schemas.openxmlformats.org/drawingml/2006/main">
            <a:off x="735362" y="1238250"/>
            <a:ext cx="7673275" cy="4619625"/>
          </a:xfrm>
          <a:prstGeom xmlns:a="http://schemas.openxmlformats.org/drawingml/2006/main" prst="roundRect">
            <a:avLst>
              <a:gd name="adj" fmla="val 2474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9B5A16-3FBD-4992-922C-7CB6153A5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3811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9525">
            <a:solidFill>
              <a:srgbClr val="2463E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3A615B-6F8D-4B35-9B6C-3918F20EA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3811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04C3F2-0330-47AA-9C9F-E9F19A09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343025"/>
            <a:ext cx="1924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055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42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必要な詳細項目を選択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E4A13B-B37D-4433-98E0-0FEDF7B0A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860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9525">
            <a:solidFill>
              <a:srgbClr val="2463E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29EB04-3340-4768-9120-A943D6E9C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860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221A5B-630D-4BF6-AC8B-A1C99243A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247900"/>
            <a:ext cx="1924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詳細を解析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F4400B-411A-4184-B977-F9560A8FE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908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9525">
            <a:solidFill>
              <a:srgbClr val="2463E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B6F4D6-51AA-4602-99AC-C8DCA2A71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908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7D3D84-5D33-456E-8361-4771E7217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152775"/>
            <a:ext cx="1924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982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検索・種別ボタンで絞り込み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D905EB-3F50-4D6C-A247-C9DDA6C68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95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9525">
            <a:solidFill>
              <a:srgbClr val="2463E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11E280-FE45-4A3D-A460-9C98E481A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957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9F2D4F-9B37-4108-9406-0E6A4D429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057650"/>
            <a:ext cx="1924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CSVまたはJSONで保存</a:t>
            </a:r>
          </a:p>
        </p:txBody>
      </p:sp>
    </p:spTree>
    <p:extLst>
      <p:ext uri="{BB962C8B-B14F-4D97-AF65-F5344CB8AC3E}">
        <p14:creationId xmlns:p14="http://schemas.microsoft.com/office/powerpoint/2010/main" val="83621579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785E38-337A-44BD-A88C-30B66A69D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3F5EF2-6C33-4E31-9485-13F5BEE40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232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列の並べ替え・絞り込み・右クリック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252271-8A99-4F0A-99E7-C2DFFE005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238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463EB"/>
                </a:solidFill>
                <a:latin typeface="BIZ UDGothic"/>
                <a:ea typeface="BIZ UDGothic"/>
                <a:cs typeface="BIZ UDGothic"/>
              </a:defRPr>
            </a:pPr>
            <a:r>
              <a:rPr sz="975" b="1">
                <a:solidFill>
                  <a:srgbClr val="2463EB"/>
                </a:solidFill>
                <a:latin typeface="BIZ UDGothic"/>
                <a:ea typeface="BIZ UDGothic"/>
                <a:cs typeface="BIZ UDGothic"/>
              </a:rPr>
              <a:t>ファイル詳細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95E6CA-0EA3-4272-89CE-0D8367A19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58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436410-5204-445F-A39B-DAEE47AC2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defRPr>
            </a:pPr>
            <a:r>
              <a: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rPr>
              <a:t>Directory Structure Generator Ver.2.8.1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45E553-0AFC-4CDD-8BAD-817F98965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defRPr>
            </a:pPr>
            <a:r>
              <a: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rPr>
              <a:t>10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959302219144ca"/>
          <a:stretch xmlns:a="http://schemas.openxmlformats.org/drawingml/2006/main"/>
        </p:blipFill>
        <p:spPr>
          <a:xfrm xmlns:a="http://schemas.openxmlformats.org/drawingml/2006/main">
            <a:off x="703289" y="1238250"/>
            <a:ext cx="4689422" cy="4476750"/>
          </a:xfrm>
          <a:prstGeom xmlns:a="http://schemas.openxmlformats.org/drawingml/2006/main" prst="roundRect">
            <a:avLst>
              <a:gd name="adj" fmla="val 2553"/>
            </a:avLst>
          </a:prstGeom>
        </p:spPr>
      </p:pic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2e05a84e134526"/>
          <a:stretch xmlns:a="http://schemas.openxmlformats.org/drawingml/2006/main"/>
        </p:blipFill>
        <p:spPr>
          <a:xfrm xmlns:a="http://schemas.openxmlformats.org/drawingml/2006/main">
            <a:off x="5857875" y="2203540"/>
            <a:ext cx="2524125" cy="2546170"/>
          </a:xfrm>
          <a:prstGeom xmlns:a="http://schemas.openxmlformats.org/drawingml/2006/main" prst="roundRect">
            <a:avLst>
              <a:gd name="adj" fmla="val 4528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6778B1-FE13-4157-995B-7352C2D5B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3811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9525">
            <a:solidFill>
              <a:srgbClr val="2463E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FC6052-698E-49E6-88EA-D20488892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3811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446CFA-1D0E-4575-9CB3-BAB144831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343025"/>
            <a:ext cx="2114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98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42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列見出しをクリックして昇順・降順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D9901E-A92E-4ADA-9BE5-FC4017F4F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860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9525">
            <a:solidFill>
              <a:srgbClr val="2463E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B45FCB-5DB6-4262-B513-5BD10E2EF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860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9E3E89-60C3-4085-9834-CE2073CCC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47900"/>
            <a:ext cx="2114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982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検索欄と種別ボタンで絞り込み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A5F7C4-ECC8-4A64-A701-10D3474E0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908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9525">
            <a:solidFill>
              <a:srgbClr val="2463E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6D6FFA-57F3-492F-96C0-53636D0C5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908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2ABFA1-9881-4F75-81DF-10BCC6790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152775"/>
            <a:ext cx="2114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982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右クリックで開く・場所を開く・選択操作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AE4E9E-BC06-4FC1-8B90-EC96D0135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95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9525">
            <a:solidFill>
              <a:srgbClr val="2463E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EB69E2-F1BD-45F3-95FF-DAB66728E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957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73B1B5-E236-46F7-994A-546F6D621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057650"/>
            <a:ext cx="2114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982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列境界をドラッグして表示幅を調整</a:t>
            </a:r>
          </a:p>
        </p:txBody>
      </p:sp>
    </p:spTree>
    <p:extLst>
      <p:ext uri="{BB962C8B-B14F-4D97-AF65-F5344CB8AC3E}">
        <p14:creationId xmlns:p14="http://schemas.microsoft.com/office/powerpoint/2010/main" val="191073154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E782D9-C42B-4FDC-BACA-D84E33ADB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D81745-9AFD-4582-B7D2-CDCBFD85C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232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画像・動画・音声のプレビュー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C209FF-F3B4-4895-BB08-ADD057259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238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463EB"/>
                </a:solidFill>
                <a:latin typeface="BIZ UDGothic"/>
                <a:ea typeface="BIZ UDGothic"/>
                <a:cs typeface="BIZ UDGothic"/>
              </a:defRPr>
            </a:pPr>
            <a:r>
              <a:rPr sz="975" b="1">
                <a:solidFill>
                  <a:srgbClr val="2463EB"/>
                </a:solidFill>
                <a:latin typeface="BIZ UDGothic"/>
                <a:ea typeface="BIZ UDGothic"/>
                <a:cs typeface="BIZ UDGothic"/>
              </a:rPr>
              <a:t>メディア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55CD8C-9F7E-41D8-983C-B95766562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58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A07967-9FA2-4DB8-96D5-AE54562D6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defRPr>
            </a:pPr>
            <a:r>
              <a: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rPr>
              <a:t>Directory Structure Generator Ver.2.8.1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D7AD64-E1B2-4D0F-934C-4926C932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defRPr>
            </a:pPr>
            <a:r>
              <a: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rPr>
              <a:t>11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9fa8aa473345b7"/>
          <a:stretch xmlns:a="http://schemas.openxmlformats.org/drawingml/2006/main"/>
        </p:blipFill>
        <p:spPr>
          <a:xfrm xmlns:a="http://schemas.openxmlformats.org/drawingml/2006/main">
            <a:off x="740905" y="1238250"/>
            <a:ext cx="7709815" cy="4619625"/>
          </a:xfrm>
          <a:prstGeom xmlns:a="http://schemas.openxmlformats.org/drawingml/2006/main" prst="roundRect">
            <a:avLst>
              <a:gd name="adj" fmla="val 2474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234AF8-DCFD-4B67-96A0-32DCECD87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3811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9525">
            <a:solidFill>
              <a:srgbClr val="2463E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E083D8-02D5-4839-BAD6-00EAFCCC7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3811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5D1BBC-1264-4A0C-AA74-92F1413D5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1343025"/>
            <a:ext cx="18764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98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42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一覧からファイルを選択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6DE46F-2C13-4D77-9081-A0841F73F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2860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9525">
            <a:solidFill>
              <a:srgbClr val="2463E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B8C7D2-41EF-4190-99AF-B20B5ECAB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2860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B4E1C8-5D40-4452-8307-20EC2FCD0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2247900"/>
            <a:ext cx="18764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982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右側でサムネイルと基本情報を確認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61CC8C-6E3A-4E5B-AE67-FC56F8317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1908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9525">
            <a:solidFill>
              <a:srgbClr val="2463E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64F25B-ECE0-4F2C-A2D3-E1FD21E25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1908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1C50EE-0000-4BB0-8FCE-3EB2E9238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3152775"/>
            <a:ext cx="18764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982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動画と音声は再生情報を確認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1C5A4C-CAC5-4B8F-A426-78FE807F3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095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9525">
            <a:solidFill>
              <a:srgbClr val="2463E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0F5200-6467-4B7A-9608-25841848F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0957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092B19-5FD2-4EB0-8ED9-52771D266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4057650"/>
            <a:ext cx="18764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982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元ファイルを開く・保存場所を開く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DE2E1A-B117-4D49-BFFF-98141636D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5143500"/>
            <a:ext cx="242887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4DE"/>
          </a:solidFill>
          <a:ln xmlns:a="http://schemas.openxmlformats.org/drawingml/2006/main" w="9525">
            <a:solidFill>
              <a:srgbClr val="C9D8E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FF1AE7-2254-4776-A6C2-4CFCC1199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5238750"/>
            <a:ext cx="20859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792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HEICなど環境依存の形式は、Windows側のコーデックや別の変換アプリが必要になる場合があります。</a:t>
            </a:r>
          </a:p>
        </p:txBody>
      </p:sp>
    </p:spTree>
    <p:extLst>
      <p:ext uri="{BB962C8B-B14F-4D97-AF65-F5344CB8AC3E}">
        <p14:creationId xmlns:p14="http://schemas.microsoft.com/office/powerpoint/2010/main" val="81794198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80CED7-C55B-4ED1-81CE-D1063CE5E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69E004-CF2A-4A38-B110-5208EECA1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232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整理コピーの流れ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5F248C-C871-4613-AB31-FCF7CDC7E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238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463EB"/>
                </a:solidFill>
                <a:latin typeface="BIZ UDGothic"/>
                <a:ea typeface="BIZ UDGothic"/>
                <a:cs typeface="BIZ UDGothic"/>
              </a:defRPr>
            </a:pPr>
            <a:r>
              <a:rPr sz="975" b="1">
                <a:solidFill>
                  <a:srgbClr val="2463EB"/>
                </a:solidFill>
                <a:latin typeface="BIZ UDGothic"/>
                <a:ea typeface="BIZ UDGothic"/>
                <a:cs typeface="BIZ UDGothic"/>
              </a:rPr>
              <a:t>整理コピー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727D5A-7433-48D2-9563-66A48DB22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58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8BB837-4B47-445C-A3F4-82135076C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defRPr>
            </a:pPr>
            <a:r>
              <a: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rPr>
              <a:t>Directory Structure Generator Ver.2.8.1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5C1916-1011-405F-AEA3-2D44762A3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defRPr>
            </a:pPr>
            <a:r>
              <a: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rPr>
              <a:t>12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d923e5f6da4c1d"/>
          <a:stretch xmlns:a="http://schemas.openxmlformats.org/drawingml/2006/main"/>
        </p:blipFill>
        <p:spPr>
          <a:xfrm xmlns:a="http://schemas.openxmlformats.org/drawingml/2006/main">
            <a:off x="523875" y="1319032"/>
            <a:ext cx="7524750" cy="4505686"/>
          </a:xfrm>
          <a:prstGeom xmlns:a="http://schemas.openxmlformats.org/drawingml/2006/main" prst="roundRect">
            <a:avLst>
              <a:gd name="adj" fmla="val 240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8F24BC-56A6-4967-8913-FBE844E08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3811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9525">
            <a:solidFill>
              <a:srgbClr val="2463E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73DB67-4F63-45F4-9198-78DEF7AB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3811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90FADE-33B5-499D-AB77-BED46983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1343025"/>
            <a:ext cx="2400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98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42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ファイル詳細でコピー対象を選択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58EBF3-045B-4DD4-B9A0-16A584028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2860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9525">
            <a:solidFill>
              <a:srgbClr val="2463E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A472AC-E0AA-4AFB-90DA-C1DA78F48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2860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AE600D-26AA-4D10-A375-A878727D8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00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982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整理コピーでコピー先と命名方法を選択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AE4DA8-AF8A-4503-8E63-A3DC12CC8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1908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9525">
            <a:solidFill>
              <a:srgbClr val="2463E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956F37-7B47-4D33-AEDA-C5650BC88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1908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E6ADF7-2579-4212-8CFF-D55B0F35B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152775"/>
            <a:ext cx="2400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コピー内容を事前確認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625557-36F8-46CD-A888-727ED5B61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095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9525">
            <a:solidFill>
              <a:srgbClr val="2463E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20CDFD-6FFE-47BA-ADC9-5A0BE379C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0957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F144BF-1DBB-4BAE-8455-B8F30B781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057650"/>
            <a:ext cx="2400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確認した内容で実行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9BA8DA-2897-495A-8B2E-3038046AA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5095875"/>
            <a:ext cx="2952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8F0"/>
          </a:solidFill>
          <a:ln xmlns:a="http://schemas.openxmlformats.org/drawingml/2006/main" w="9525">
            <a:solidFill>
              <a:srgbClr val="C9D8E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6F5A8A-8948-4780-B282-D61A4F1C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5191125"/>
            <a:ext cx="2609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58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「元のサブフォルダー構成を維持する」がオンの場合、選択元のフォルダー構成もコピー先へ再現します。</a:t>
            </a:r>
          </a:p>
        </p:txBody>
      </p:sp>
    </p:spTree>
    <p:extLst>
      <p:ext uri="{BB962C8B-B14F-4D97-AF65-F5344CB8AC3E}">
        <p14:creationId xmlns:p14="http://schemas.microsoft.com/office/powerpoint/2010/main" val="1791680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A17A5C-465F-4182-98DE-ABF0E4F0B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E4FC6D-67E9-4504-9B7E-4F9E42840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232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ファイル名と拡張子の編集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7F48AE-3189-4E91-B19A-65CACFFB7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238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463EB"/>
                </a:solidFill>
                <a:latin typeface="BIZ UDGothic"/>
                <a:ea typeface="BIZ UDGothic"/>
                <a:cs typeface="BIZ UDGothic"/>
              </a:defRPr>
            </a:pPr>
            <a:r>
              <a:rPr sz="975" b="1">
                <a:solidFill>
                  <a:srgbClr val="2463EB"/>
                </a:solidFill>
                <a:latin typeface="BIZ UDGothic"/>
                <a:ea typeface="BIZ UDGothic"/>
                <a:cs typeface="BIZ UDGothic"/>
              </a:rPr>
              <a:t>整理コピー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EBE6EE-EB9A-497A-9A80-B46B29B61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58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F47655-E85A-4DA7-B342-32B4BAE81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defRPr>
            </a:pPr>
            <a:r>
              <a: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rPr>
              <a:t>Directory Structure Generator Ver.2.8.1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A7DE7F-FEA6-4B46-A653-19E5B9ABC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defRPr>
            </a:pPr>
            <a:r>
              <a: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rPr>
              <a:t>13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9c965d712e48c3"/>
          <a:stretch xmlns:a="http://schemas.openxmlformats.org/drawingml/2006/main"/>
        </p:blipFill>
        <p:spPr>
          <a:xfrm xmlns:a="http://schemas.openxmlformats.org/drawingml/2006/main">
            <a:off x="523875" y="1277882"/>
            <a:ext cx="6858000" cy="4587986"/>
          </a:xfrm>
          <a:prstGeom xmlns:a="http://schemas.openxmlformats.org/drawingml/2006/main" prst="roundRect">
            <a:avLst>
              <a:gd name="adj" fmla="val 240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73674A-65D0-42B3-B3A0-A3B2BC326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3811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9525">
            <a:solidFill>
              <a:srgbClr val="2463E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DA8182-9138-47AA-AA25-D5E4FA8AE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3811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F2C313-FBBA-4565-BFD7-A05B91EC8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343025"/>
            <a:ext cx="3067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98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42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新しいファイル名は拡張子を除いて編集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D6BCB8-18F5-46E5-A394-EDEB0AE46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57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9525">
            <a:solidFill>
              <a:srgbClr val="2463E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94AEFB-0754-486E-AD1D-AACF9565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57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A8A7EA-4BD2-4475-A839-EB5F46714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19325"/>
            <a:ext cx="3067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拡張子は候補リストから選択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2B2B85-D288-481C-8D44-F45552B9D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337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9525">
            <a:solidFill>
              <a:srgbClr val="2463E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F2E33C-92D2-49D2-B5FF-C773ACD43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337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B56714-6B0B-4072-B2C1-68E18BC95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95625"/>
            <a:ext cx="3067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手入力した拡張子は候補へ追加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933B0D-7FA5-4F18-A997-EEE51428B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100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9525">
            <a:solidFill>
              <a:srgbClr val="2463E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711C8A-59E0-4F93-A15D-535DA2F49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100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78D1A5-0DFE-4ED4-BDED-763F2BD61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971925"/>
            <a:ext cx="3067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拡張子変更時は警告を確認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D3D274-EDC8-4EAA-B279-763DF3AFB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095875"/>
            <a:ext cx="36195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4DE"/>
          </a:solidFill>
          <a:ln xmlns:a="http://schemas.openxmlformats.org/drawingml/2006/main" w="9525">
            <a:solidFill>
              <a:srgbClr val="C9D8E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3B9A4B-AAB7-4CB1-92E9-B1AAB1117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191125"/>
            <a:ext cx="3276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拡張子名を変えても、ファイル内容の形式は変換されません。例：PNGをJPGへ変更しても画像変換にはなりません。</a:t>
            </a:r>
          </a:p>
        </p:txBody>
      </p:sp>
    </p:spTree>
    <p:extLst>
      <p:ext uri="{BB962C8B-B14F-4D97-AF65-F5344CB8AC3E}">
        <p14:creationId xmlns:p14="http://schemas.microsoft.com/office/powerpoint/2010/main" val="40979464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C3860D-7712-402B-A288-59FE2694B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225ABA-8943-4252-B560-040949580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232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元ファイルの扱いと削除確認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29E323-6517-440C-AC2E-837A62E97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238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463EB"/>
                </a:solidFill>
                <a:latin typeface="BIZ UDGothic"/>
                <a:ea typeface="BIZ UDGothic"/>
                <a:cs typeface="BIZ UDGothic"/>
              </a:defRPr>
            </a:pPr>
            <a:r>
              <a:rPr sz="975" b="1">
                <a:solidFill>
                  <a:srgbClr val="2463EB"/>
                </a:solidFill>
                <a:latin typeface="BIZ UDGothic"/>
                <a:ea typeface="BIZ UDGothic"/>
                <a:cs typeface="BIZ UDGothic"/>
              </a:rPr>
              <a:t>安全確認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688897-7522-4A9C-95D4-2BDD983E8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58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FE339D-8405-4692-A27E-BE3F26D62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defRPr>
            </a:pPr>
            <a:r>
              <a: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rPr>
              <a:t>Directory Structure Generator Ver.2.8.1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3A2280-47A3-49B3-A8BD-725909577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defRPr>
            </a:pPr>
            <a:r>
              <a: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78E9F8-67BF-4DC9-986D-CEBF81AEC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509587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AF8F0"/>
          </a:solidFill>
          <a:ln xmlns:a="http://schemas.openxmlformats.org/drawingml/2006/main" w="9525">
            <a:solidFill>
              <a:srgbClr val="C9D8E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71B085-998A-40F2-B3B6-71EE21B9E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71625"/>
            <a:ext cx="47529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元ファイルを保持する（推奨）</a:t>
            </a:r>
          </a:p>
          <a:p xmlns:a="http://schemas.openxmlformats.org/drawingml/2006/main">
            <a:pPr algn="l">
              <a:def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コピー側だけを整理します。元データは変更・削除しません。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EB5215-12E7-4BF0-849D-FDBE7F83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476375"/>
            <a:ext cx="509587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C9D8E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82BA42-2CDE-4D33-B786-194FD0310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1571625"/>
            <a:ext cx="47529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コピー成功後に元ファイルを削除</a:t>
            </a:r>
          </a:p>
          <a:p xmlns:a="http://schemas.openxmlformats.org/drawingml/2006/main">
            <a:pPr algn="l">
              <a:def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コピー先とのサイズ一致を確認したファイルだけを削除します。実行前に最終確認を表示します。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A67B34-7380-4373-B5A9-6FC760793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623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9525">
            <a:solidFill>
              <a:srgbClr val="2463E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4CA7FD-B173-4E28-A995-97A26DEB9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623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27CF94-58EF-4BC6-8CCC-1F75202ED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724275"/>
            <a:ext cx="9353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42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コピー先が対象フォルダー内の場合は実行不可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D81E21-F621-452D-80C1-71B485A34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529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9525">
            <a:solidFill>
              <a:srgbClr val="2463E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BC2C04-4218-4D97-852B-CE700E273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529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C2EC36-73B3-4AFC-8D3C-9D9A93D2B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314825"/>
            <a:ext cx="9353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拡張子変更を検出したら警告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91830B-A823-4464-8805-4C771768E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434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9525">
            <a:solidFill>
              <a:srgbClr val="2463E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84972C-82F0-4291-BE32-9CE1E5018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434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F812B3-AA32-4391-B9F2-6A4813593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905375"/>
            <a:ext cx="9353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大量件数では追加確認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631959-C04F-451C-8B78-D4FE872DC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340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9525">
            <a:solidFill>
              <a:srgbClr val="2463EB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4D5EB6-5F70-42E4-AF45-6EB9BA1DA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340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1">
                <a:solidFill>
                  <a:srgbClr val="FFFFFF"/>
                </a:solidFill>
                <a:latin typeface="BIZ UDGothic"/>
                <a:ea typeface="BIZ UDGothic"/>
                <a:cs typeface="BIZ UDGothic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ABBFB3-ADDA-4ECC-B013-8AB906610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495925"/>
            <a:ext cx="9353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425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結果をコピー先のCSVログへ記録</a:t>
            </a:r>
          </a:p>
        </p:txBody>
      </p:sp>
    </p:spTree>
    <p:extLst>
      <p:ext uri="{BB962C8B-B14F-4D97-AF65-F5344CB8AC3E}">
        <p14:creationId xmlns:p14="http://schemas.microsoft.com/office/powerpoint/2010/main" val="129389405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01CEA7-8C31-4AAB-9636-564D00E10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FFDB30-CD46-43AA-A8DD-A3F825FAC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232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取得できる情報と注意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833EAF-D677-4016-8CB3-3C3975262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238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463EB"/>
                </a:solidFill>
                <a:latin typeface="BIZ UDGothic"/>
                <a:ea typeface="BIZ UDGothic"/>
                <a:cs typeface="BIZ UDGothic"/>
              </a:defRPr>
            </a:pPr>
            <a:r>
              <a:rPr sz="975" b="1">
                <a:solidFill>
                  <a:srgbClr val="2463EB"/>
                </a:solidFill>
                <a:latin typeface="BIZ UDGothic"/>
                <a:ea typeface="BIZ UDGothic"/>
                <a:cs typeface="BIZ UDGothic"/>
              </a:rPr>
              <a:t>詳細情報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8ABA7C-FDAD-42A8-8FC9-94A3D0133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58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DC3087-F9D9-4FEF-BFAD-6F7C3177B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defRPr>
            </a:pPr>
            <a:r>
              <a: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rPr>
              <a:t>Directory Structure Generator Ver.2.8.1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BCD23A-EE12-477C-9E78-7E9B32FBC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defRPr>
            </a:pPr>
            <a:r>
              <a: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1756CF-8056-4BC2-A6BF-7C8606B1C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81125"/>
            <a:ext cx="3476625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7FAFF"/>
          </a:solidFill>
          <a:ln xmlns:a="http://schemas.openxmlformats.org/drawingml/2006/main" w="9525">
            <a:solidFill>
              <a:srgbClr val="C9D8E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40C6E4-FC29-41C4-BFF5-F4CBC805E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619250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63EB"/>
                </a:solidFill>
                <a:latin typeface="BIZ UDGothic"/>
                <a:ea typeface="BIZ UDGothic"/>
                <a:cs typeface="BIZ UDGothic"/>
              </a:defRPr>
            </a:pPr>
            <a:r>
              <a:rPr sz="1800" b="1">
                <a:solidFill>
                  <a:srgbClr val="2463EB"/>
                </a:solidFill>
                <a:latin typeface="BIZ UDGothic"/>
                <a:ea typeface="BIZ UDGothic"/>
                <a:cs typeface="BIZ UDGothic"/>
              </a:rPr>
              <a:t>一般ファイル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67F31B-C803-4450-95A0-68372B0A5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190750"/>
            <a:ext cx="3048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サイズ・更新日時・作成日時</a:t>
            </a:r>
          </a:p>
          <a:p xmlns:a="http://schemas.openxmlformats.org/drawingml/2006/main">
            <a:pPr algn="l">
              <a:def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テキストやコードの行数</a:t>
            </a:r>
          </a:p>
          <a:p xmlns:a="http://schemas.openxmlformats.org/drawingml/2006/main">
            <a:pPr algn="l">
              <a:def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アクセス権・読み取り専用属性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951DBE-EA36-4E6A-BEAA-730840E94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381125"/>
            <a:ext cx="3476625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7FAFF"/>
          </a:solidFill>
          <a:ln xmlns:a="http://schemas.openxmlformats.org/drawingml/2006/main" w="9525">
            <a:solidFill>
              <a:srgbClr val="C9D8E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E67BD7-7CEA-4C5D-BB54-47F924678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619250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63EB"/>
                </a:solidFill>
                <a:latin typeface="BIZ UDGothic"/>
                <a:ea typeface="BIZ UDGothic"/>
                <a:cs typeface="BIZ UDGothic"/>
              </a:defRPr>
            </a:pPr>
            <a:r>
              <a:rPr sz="1800" b="1">
                <a:solidFill>
                  <a:srgbClr val="2463EB"/>
                </a:solidFill>
                <a:latin typeface="BIZ UDGothic"/>
                <a:ea typeface="BIZ UDGothic"/>
                <a:cs typeface="BIZ UDGothic"/>
              </a:rPr>
              <a:t>画像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ED67D2-0662-4A38-9A53-4DEDB3243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90750"/>
            <a:ext cx="3048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形式・解像度・縦横比・色</a:t>
            </a:r>
          </a:p>
          <a:p xmlns:a="http://schemas.openxmlformats.org/drawingml/2006/main">
            <a:pPr algn="l">
              <a:def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Exif撮影日時・カメラ・GPS</a:t>
            </a:r>
          </a:p>
          <a:p xmlns:a="http://schemas.openxmlformats.org/drawingml/2006/main">
            <a:pPr algn="l">
              <a:def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サムネイル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C38F9D-28EC-4E28-8F15-B27817843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381125"/>
            <a:ext cx="3476625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7FAFF"/>
          </a:solidFill>
          <a:ln xmlns:a="http://schemas.openxmlformats.org/drawingml/2006/main" w="9525">
            <a:solidFill>
              <a:srgbClr val="C9D8E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6D5D66-9E2B-4857-BA9D-D9CF2635F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619250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63EB"/>
                </a:solidFill>
                <a:latin typeface="BIZ UDGothic"/>
                <a:ea typeface="BIZ UDGothic"/>
                <a:cs typeface="BIZ UDGothic"/>
              </a:defRPr>
            </a:pPr>
            <a:r>
              <a:rPr sz="1800" b="1">
                <a:solidFill>
                  <a:srgbClr val="2463EB"/>
                </a:solidFill>
                <a:latin typeface="BIZ UDGothic"/>
                <a:ea typeface="BIZ UDGothic"/>
                <a:cs typeface="BIZ UDGothic"/>
              </a:rPr>
              <a:t>動画・音声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B9FE7B-4C36-46D8-A0D2-73B043416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190750"/>
            <a:ext cx="3048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長さ・FPS・コーデック</a:t>
            </a:r>
          </a:p>
          <a:p xmlns:a="http://schemas.openxmlformats.org/drawingml/2006/main">
            <a:pPr algn="l">
              <a:def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ビットレート・チャンネル</a:t>
            </a:r>
          </a:p>
          <a:p xmlns:a="http://schemas.openxmlformats.org/drawingml/2006/main">
            <a:pPr algn="l">
              <a:def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プレビューとメタデータ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9FA647-4E4F-4B6B-B183-26EAB4B9B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33875"/>
            <a:ext cx="11001375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4DE"/>
          </a:solidFill>
          <a:ln xmlns:a="http://schemas.openxmlformats.org/drawingml/2006/main" w="9525">
            <a:solidFill>
              <a:srgbClr val="C9D8EE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833C14-4BB8-43E3-8E2E-B2430D9DF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429125"/>
            <a:ext cx="106584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個人情報に注意</a:t>
            </a:r>
          </a:p>
          <a:p xmlns:a="http://schemas.openxmlformats.org/drawingml/2006/main">
            <a:pPr algn="l">
              <a:def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ExifやGPSには撮影場所などが含まれることがあります。共有前に必要性を確認してください。オンラインのみのクラウドファイルは、端末へ取得してから解析してください。</a:t>
            </a:r>
          </a:p>
        </p:txBody>
      </p:sp>
    </p:spTree>
    <p:extLst>
      <p:ext uri="{BB962C8B-B14F-4D97-AF65-F5344CB8AC3E}">
        <p14:creationId xmlns:p14="http://schemas.microsoft.com/office/powerpoint/2010/main" val="130857963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010634-76DF-4674-9025-AC66DB172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B47167-E6ED-4AA8-A5EF-09BFE3408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2325" b="1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入手先・共同改良・困ったとき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95C105-79C5-4C52-8A04-F55AF84A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238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463EB"/>
                </a:solidFill>
                <a:latin typeface="BIZ UDGothic"/>
                <a:ea typeface="BIZ UDGothic"/>
                <a:cs typeface="BIZ UDGothic"/>
              </a:defRPr>
            </a:pPr>
            <a:r>
              <a:rPr sz="975" b="1">
                <a:solidFill>
                  <a:srgbClr val="2463EB"/>
                </a:solidFill>
                <a:latin typeface="BIZ UDGothic"/>
                <a:ea typeface="BIZ UDGothic"/>
                <a:cs typeface="BIZ UDGothic"/>
              </a:rPr>
              <a:t>補足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4E8F79-FC14-450D-97BD-4DB8317FC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58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E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E89F69-77FB-4A9D-B6CC-3E8234E79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defRPr>
            </a:pPr>
            <a:r>
              <a: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rPr>
              <a:t>Directory Structure Generator Ver.2.8.1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5FAD9B-7D22-4C01-B77F-F0E1A4A6D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defRPr>
            </a:pPr>
            <a:r>
              <a:rPr sz="750" b="0">
                <a:solidFill>
                  <a:srgbClr val="52647A"/>
                </a:solidFill>
                <a:latin typeface="BIZ UDGothic"/>
                <a:ea typeface="BIZ UDGothic"/>
                <a:cs typeface="BIZ UDGothic"/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1979B0-EDD9-460A-8B58-60D35CA99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81125"/>
            <a:ext cx="5095875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C9D8E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5428C2-2107-47F3-B477-306078E5E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476375"/>
            <a:ext cx="4752975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GitHub</a:t>
            </a:r>
          </a:p>
          <a:p xmlns:a="http://schemas.openxmlformats.org/drawingml/2006/main">
            <a:pPr algn="l">
              <a:def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・最新版：Releases</a:t>
            </a:r>
          </a:p>
          <a:p xmlns:a="http://schemas.openxmlformats.org/drawingml/2006/main">
            <a:pPr algn="l">
              <a:def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・不具合報告：Issues</a:t>
            </a:r>
          </a:p>
          <a:p xmlns:a="http://schemas.openxmlformats.org/drawingml/2006/main">
            <a:pPr algn="l">
              <a:def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・共同改良：Fork、ブランチ、Pull Request</a:t>
            </a:r>
          </a:p>
          <a:p xmlns:a="http://schemas.openxmlformats.org/drawingml/2006/main">
            <a:pPr algn="l">
              <a:def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・ライセンス：MIT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654ED1-B3DC-4FFC-9D86-4DA1EFE54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81125"/>
            <a:ext cx="5381625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7FAFF"/>
          </a:solidFill>
          <a:ln xmlns:a="http://schemas.openxmlformats.org/drawingml/2006/main" w="9525">
            <a:solidFill>
              <a:srgbClr val="C9D8E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956A93-19F5-4BF7-ADD8-C9BE65C6E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476375"/>
            <a:ext cx="5038725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よくある確認</a:t>
            </a:r>
          </a:p>
          <a:p xmlns:a="http://schemas.openxmlformats.org/drawingml/2006/main">
            <a:pPr algn="l">
              <a:def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・処理前に対象件数とコピー先を確認</a:t>
            </a:r>
          </a:p>
          <a:p xmlns:a="http://schemas.openxmlformats.org/drawingml/2006/main">
            <a:pPr algn="l">
              <a:def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・元データを残す場合は「保持」を選択</a:t>
            </a:r>
          </a:p>
          <a:p xmlns:a="http://schemas.openxmlformats.org/drawingml/2006/main">
            <a:pPr algn="l">
              <a:def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・クラウドのオンライン専用ファイルは先に取得</a:t>
            </a:r>
          </a:p>
          <a:p xmlns:a="http://schemas.openxmlformats.org/drawingml/2006/main">
            <a:pPr algn="l">
              <a:def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・設定はプリセットとCSVで再利用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726D9A-8FCE-4028-9C53-AA2F65841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33875"/>
            <a:ext cx="109537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C9D8E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F70F1C-ADA0-4EE9-B2C2-932227662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429125"/>
            <a:ext cx="106108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defRPr>
            </a:pPr>
            <a:r>
              <a:rPr sz="1350" b="0">
                <a:solidFill>
                  <a:srgbClr val="11233F"/>
                </a:solidFill>
                <a:latin typeface="BIZ UDGothic"/>
                <a:ea typeface="BIZ UDGothic"/>
                <a:cs typeface="BIZ UDGothic"/>
              </a:rPr>
              <a:t>本ソフトウェアは無保証で提供されます。重要なデータはバックアップを用意し、少量のファイルで動作を確認してから使用してください。</a:t>
            </a:r>
          </a:p>
        </p:txBody>
      </p:sp>
    </p:spTree>
    <p:extLst>
      <p:ext uri="{BB962C8B-B14F-4D97-AF65-F5344CB8AC3E}">
        <p14:creationId xmlns:p14="http://schemas.microsoft.com/office/powerpoint/2010/main" val="3958737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2026-09-23T02:44:38.6390000Z</dcterms:created>
  <dcterms:modified xsi:type="dcterms:W3CDTF">2026-09-23T02:44:38.6390000Z</dcterms:modified>
</coreProperties>
</file>